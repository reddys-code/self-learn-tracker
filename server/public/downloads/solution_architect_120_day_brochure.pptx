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CHURE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45720"/>
            <a:ext cx="2240280" cy="2240280"/>
          </a:xfrm>
          <a:prstGeom prst="ellipse">
            <a:avLst/>
          </a:prstGeom>
          <a:solidFill>
            <a:srgbClr val="17BEBB">
              <a:alpha val="6000"/>
            </a:srgbClr>
          </a:solidFill>
          <a:ln w="12700">
            <a:solidFill>
              <a:srgbClr val="17BEBB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8065008"/>
            <a:ext cx="1920240" cy="1920240"/>
          </a:xfrm>
          <a:prstGeom prst="ellipse">
            <a:avLst/>
          </a:prstGeom>
          <a:solidFill>
            <a:srgbClr val="F2B544">
              <a:alpha val="6000"/>
            </a:srgbClr>
          </a:solidFill>
          <a:ln w="12700">
            <a:solidFill>
              <a:srgbClr val="F2B544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26280" y="6903720"/>
            <a:ext cx="1737360" cy="1737360"/>
          </a:xfrm>
          <a:prstGeom prst="ellipse">
            <a:avLst/>
          </a:prstGeom>
          <a:solidFill>
            <a:srgbClr val="4F7CFF">
              <a:alpha val="5000"/>
            </a:srgbClr>
          </a:solidFill>
          <a:ln w="12700">
            <a:solidFill>
              <a:srgbClr val="4F7CFF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5806440" y="1417320"/>
            <a:ext cx="1691640" cy="6309360"/>
          </a:xfrm>
          <a:prstGeom prst="rect">
            <a:avLst/>
          </a:prstGeom>
          <a:solidFill>
            <a:srgbClr val="1B3554">
              <a:alpha val="52000"/>
            </a:srgbClr>
          </a:solidFill>
          <a:ln w="12700">
            <a:solidFill>
              <a:srgbClr val="1B355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6048" y="2212848"/>
            <a:ext cx="1170432" cy="914400"/>
          </a:xfrm>
          <a:prstGeom prst="line">
            <a:avLst/>
          </a:prstGeom>
          <a:noFill/>
          <a:ln w="12700">
            <a:solidFill>
              <a:srgbClr val="17BEBB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2788920"/>
            <a:ext cx="768096" cy="594360"/>
          </a:xfrm>
          <a:prstGeom prst="line">
            <a:avLst/>
          </a:prstGeom>
          <a:noFill/>
          <a:ln w="12700">
            <a:solidFill>
              <a:srgbClr val="F2B544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59436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704088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Solution Architect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120-Day Accelerator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30352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8E2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detailed path from implementation strength to architecture readiness — spanning Java, Spring, AWS, system design, security, resilience, capstone delivery, and interview storytelling.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30352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Architecture. Cloud. Security. Delivery.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4983480"/>
            <a:ext cx="102412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50840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120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00784" y="4983480"/>
            <a:ext cx="969264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508406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 Weeks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16352" y="4983480"/>
            <a:ext cx="93268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508406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 Tracks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95344" y="4983480"/>
            <a:ext cx="1243584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5084064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Capstone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5715000"/>
            <a:ext cx="4754880" cy="2057400"/>
          </a:xfrm>
          <a:prstGeom prst="roundRect">
            <a:avLst>
              <a:gd name="adj" fmla="val 533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this brochure packages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6382512"/>
            <a:ext cx="73152" cy="73152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3276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 18-week curriculum broken into weekly execution blocks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49808" y="6693408"/>
            <a:ext cx="73152" cy="73152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66385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Architecture-centered deliverables: HLDs, ADRs, runbooks, and design talks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49808" y="7004304"/>
            <a:ext cx="73152" cy="73152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9494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capstone path that converts study into portfolio-level proof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49808" y="7315200"/>
            <a:ext cx="73152" cy="7315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726033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disciplined blend of DSA maintenance, engineering depth, cloud delivery, and system design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440680" y="5532120"/>
            <a:ext cx="1554480" cy="2395728"/>
          </a:xfrm>
          <a:prstGeom prst="roundRect">
            <a:avLst>
              <a:gd name="adj" fmla="val 5882"/>
            </a:avLst>
          </a:prstGeom>
          <a:solidFill>
            <a:srgbClr val="16263D"/>
          </a:solidFill>
          <a:ln w="12700">
            <a:solidFill>
              <a:srgbClr val="2E43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57424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Best fit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32704" y="612648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Senior backend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engineers</a:t>
            </a:r>
            <a:endParaRPr lang="en-US" sz="1020" dirty="0"/>
          </a:p>
          <a:p>
            <a:pPr algn="ctr" indent="0" marL="0">
              <a:buNone/>
            </a:pP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Cloud-native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developers</a:t>
            </a:r>
            <a:endParaRPr lang="en-US" sz="1020" dirty="0"/>
          </a:p>
          <a:p>
            <a:pPr algn="ctr" indent="0" marL="0">
              <a:buNone/>
            </a:pP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Lead engineers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transitioning to SA</a:t>
            </a:r>
            <a:endParaRPr lang="en-US" sz="1020" dirty="0"/>
          </a:p>
          <a:p>
            <a:pPr algn="ctr" indent="0" marL="0">
              <a:buNone/>
            </a:pP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D5DE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 aspirants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30352" y="854964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2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Built to help you learn the concepts — and prove them with artifacts that hiring managers and stakeholders can actually assess.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" y="97840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AB0C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Custom edition based on the detailed 120-day roadmap.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6729984" y="9966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Program snapshot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the 120-day path is structured, who it serves, and why the weekly blend works.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480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43000"/>
            <a:ext cx="4480560" cy="128016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62456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this roadmap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801368"/>
            <a:ext cx="4151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This is not a passive reading plan. Each week mixes five lanes: DSA maintenance, Java/Spring delivery, AWS/DevOps execution, frontend support, and architecture/design. The result is a curriculum that keeps coding fluency alive while forcing you to think in systems, trade-offs, resilience, cost, security, and stakeholder communication.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1143000"/>
            <a:ext cx="19842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143000"/>
            <a:ext cx="1984248" cy="12801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362456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Finish with proof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801368"/>
            <a:ext cx="1655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Architecture diagrams and ADRs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Deployable cloud application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Reliability runbook and dashboards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Security baseline and threat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Capstone demo and portfolio narrative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Five-track weekly model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80390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9344" y="3703320"/>
            <a:ext cx="1143000" cy="384048"/>
          </a:xfrm>
          <a:prstGeom prst="roundRect">
            <a:avLst>
              <a:gd name="adj" fmla="val 16667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64208" y="3803904"/>
            <a:ext cx="1033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Java / Spring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52928" y="3703320"/>
            <a:ext cx="1115568" cy="384048"/>
          </a:xfrm>
          <a:prstGeom prst="roundRect">
            <a:avLst>
              <a:gd name="adj" fmla="val 16667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380390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AWS / DevOps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370332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3944" y="380390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58384" y="3703320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FFF1EC"/>
          </a:solidFill>
          <a:ln w="12700">
            <a:solidFill>
              <a:srgbClr val="FFF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3803904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 /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169664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Suggested rhythm: 5 focused weekday sessions plus 2 heavier weekend blocks. Every weekend ends with a deliverable, retrospective, or milestone review.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Four execution phases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3246120" cy="2121408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6510" dist="4445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" y="5175504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5266944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92224" y="523951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1-4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" y="5678424"/>
            <a:ext cx="73152" cy="73152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5614416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setup, API design, storage and data modeling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58368" y="5989320"/>
            <a:ext cx="73152" cy="73152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5925312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NFRs, CAP, statelessness, caching, database trade-offs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58368" y="6300216"/>
            <a:ext cx="73152" cy="73152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6236208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Early deployment and the first architecture milestone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21792" y="6528816"/>
            <a:ext cx="2916936" cy="384048"/>
          </a:xfrm>
          <a:prstGeom prst="roundRect">
            <a:avLst>
              <a:gd name="adj" fmla="val 14286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6620256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deliverable: Day-30 architecture summary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858768" y="5010912"/>
            <a:ext cx="3246120" cy="2121408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6510" dist="4445" dir="27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023360" y="5175504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78224" y="5266944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93792" y="523951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5-8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059936" y="5678424"/>
            <a:ext cx="73152" cy="73152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87952" y="5614416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Spring Boot structure, microservices, containers, messaging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4059936" y="5989320"/>
            <a:ext cx="73152" cy="73152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87952" y="5925312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Auth, queues, tracing, dashboards, resilience patterns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4059936" y="6300216"/>
            <a:ext cx="73152" cy="73152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87952" y="6236208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Production-style engineering with observability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4023360" y="6528816"/>
            <a:ext cx="2916936" cy="384048"/>
          </a:xfrm>
          <a:prstGeom prst="roundRect">
            <a:avLst>
              <a:gd name="adj" fmla="val 14286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6620256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deliverable: Observable service + runbook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57200" y="7333488"/>
            <a:ext cx="3246120" cy="2121408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6510" dist="4445" dir="2700000">
              <a:srgbClr val="000000">
                <a:alpha val="1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" y="749808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7589520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792224" y="756208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9-13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8368" y="8001000"/>
            <a:ext cx="73152" cy="73152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" y="7936992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Async design, caching, distributed reliability, security, IaC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658368" y="8311896"/>
            <a:ext cx="73152" cy="73152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6384" y="8247888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 engineering, HA/DR, cost/performance and recovery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58368" y="8622792"/>
            <a:ext cx="73152" cy="73152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8558784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System-level platform thinking and operational awareness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621792" y="8851392"/>
            <a:ext cx="2916936" cy="384048"/>
          </a:xfrm>
          <a:prstGeom prst="roundRect">
            <a:avLst>
              <a:gd name="adj" fmla="val 14286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894283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deliverable: Automated pipeline + tuned slice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3858768" y="7333488"/>
            <a:ext cx="3246120" cy="2121408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6510" dist="4445" dir="2700000">
              <a:srgbClr val="000000">
                <a:alpha val="1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023360" y="749808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78224" y="7589520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 MODE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193792" y="756208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14-18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059936" y="8001000"/>
            <a:ext cx="73152" cy="7315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87952" y="7936992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design sprint, ADR writing, stakeholder communication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4059936" y="8311896"/>
            <a:ext cx="73152" cy="7315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87952" y="8247888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AI extension, capstone build, hardening, final talk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4059936" y="8622792"/>
            <a:ext cx="73152" cy="7315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87952" y="8558784"/>
            <a:ext cx="2734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Portfolio packaging and interview narrative</a:t>
            </a:r>
            <a:endParaRPr lang="en-US" sz="920" dirty="0"/>
          </a:p>
        </p:txBody>
      </p:sp>
      <p:sp>
        <p:nvSpPr>
          <p:cNvPr id="76" name="Shape 74"/>
          <p:cNvSpPr/>
          <p:nvPr/>
        </p:nvSpPr>
        <p:spPr>
          <a:xfrm>
            <a:off x="4023360" y="8851392"/>
            <a:ext cx="2916936" cy="384048"/>
          </a:xfrm>
          <a:prstGeom prst="roundRect">
            <a:avLst>
              <a:gd name="adj" fmla="val 14286"/>
            </a:avLst>
          </a:prstGeom>
          <a:solidFill>
            <a:srgbClr val="FFF1EC"/>
          </a:solidFill>
          <a:ln w="12700">
            <a:solidFill>
              <a:srgbClr val="FFF1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0" y="894283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deliverable: Capstone + readiness review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1-4 · Foundations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 starts on Day 1: cloud setup, APIs, data, caching, and scaling decisions.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70432"/>
            <a:ext cx="3337560" cy="14630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746504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1-7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setup, engineering baseline, and architecture mindset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76072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289304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Arrays, hashing, prefix sum, Kadane, interview complexity basics</a:t>
            </a:r>
            <a:endParaRPr lang="en-US" sz="845" dirty="0"/>
          </a:p>
        </p:txBody>
      </p:sp>
      <p:sp>
        <p:nvSpPr>
          <p:cNvPr id="17" name="Text 15"/>
          <p:cNvSpPr/>
          <p:nvPr/>
        </p:nvSpPr>
        <p:spPr>
          <a:xfrm>
            <a:off x="576072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1289304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JVM memory model, class loading, JIT/GC, collections, HashMap internals</a:t>
            </a:r>
            <a:endParaRPr lang="en-US" sz="845" dirty="0"/>
          </a:p>
        </p:txBody>
      </p:sp>
      <p:sp>
        <p:nvSpPr>
          <p:cNvPr id="19" name="Text 17"/>
          <p:cNvSpPr/>
          <p:nvPr/>
        </p:nvSpPr>
        <p:spPr>
          <a:xfrm>
            <a:off x="576072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289304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AWS global infrastructure, account hardening, IAM, EC2, S3, budgets</a:t>
            </a:r>
            <a:endParaRPr lang="en-US" sz="845" dirty="0"/>
          </a:p>
        </p:txBody>
      </p:sp>
      <p:sp>
        <p:nvSpPr>
          <p:cNvPr id="21" name="Text 19"/>
          <p:cNvSpPr/>
          <p:nvPr/>
        </p:nvSpPr>
        <p:spPr>
          <a:xfrm>
            <a:off x="576072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1289304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 mental model, JSX, props, state, reusable components</a:t>
            </a:r>
            <a:endParaRPr lang="en-US" sz="845" dirty="0"/>
          </a:p>
        </p:txBody>
      </p:sp>
      <p:sp>
        <p:nvSpPr>
          <p:cNvPr id="23" name="Text 21"/>
          <p:cNvSpPr/>
          <p:nvPr/>
        </p:nvSpPr>
        <p:spPr>
          <a:xfrm>
            <a:off x="576072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289304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Solution Architect role, Well-Architected pillars, NFRs, CAP, 3-tier thinking</a:t>
            </a:r>
            <a:endParaRPr lang="en-US" sz="845" dirty="0"/>
          </a:p>
        </p:txBody>
      </p:sp>
      <p:sp>
        <p:nvSpPr>
          <p:cNvPr id="25" name="Shape 23"/>
          <p:cNvSpPr/>
          <p:nvPr/>
        </p:nvSpPr>
        <p:spPr>
          <a:xfrm>
            <a:off x="557784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252728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Study repository, AWS account, first Java app on EC2, 3-tier architecture sketch</a:t>
            </a:r>
            <a:endParaRPr lang="en-US" sz="845" dirty="0"/>
          </a:p>
        </p:txBody>
      </p:sp>
      <p:sp>
        <p:nvSpPr>
          <p:cNvPr id="28" name="Shape 26"/>
          <p:cNvSpPr/>
          <p:nvPr/>
        </p:nvSpPr>
        <p:spPr>
          <a:xfrm>
            <a:off x="3813048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3048" y="1170432"/>
            <a:ext cx="3337560" cy="14630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9352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14216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2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148072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8-14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Networking, API contracts, and secure application flow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3977640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690872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Sliding window patterns, longest substring, minimum window, string checks</a:t>
            </a:r>
            <a:endParaRPr lang="en-US" sz="845" dirty="0"/>
          </a:p>
        </p:txBody>
      </p:sp>
      <p:sp>
        <p:nvSpPr>
          <p:cNvPr id="36" name="Text 34"/>
          <p:cNvSpPr/>
          <p:nvPr/>
        </p:nvSpPr>
        <p:spPr>
          <a:xfrm>
            <a:off x="3977640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4690872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Generics, lambdas, streams, Optional/records, logging and exceptions</a:t>
            </a:r>
            <a:endParaRPr lang="en-US" sz="845" dirty="0"/>
          </a:p>
        </p:txBody>
      </p:sp>
      <p:sp>
        <p:nvSpPr>
          <p:cNvPr id="38" name="Text 36"/>
          <p:cNvSpPr/>
          <p:nvPr/>
        </p:nvSpPr>
        <p:spPr>
          <a:xfrm>
            <a:off x="397764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4690872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VPC, CIDR, public/private subnets, route tables, IGW, NAT, NACL vs SG</a:t>
            </a:r>
            <a:endParaRPr lang="en-US" sz="845" dirty="0"/>
          </a:p>
        </p:txBody>
      </p:sp>
      <p:sp>
        <p:nvSpPr>
          <p:cNvPr id="40" name="Text 38"/>
          <p:cNvSpPr/>
          <p:nvPr/>
        </p:nvSpPr>
        <p:spPr>
          <a:xfrm>
            <a:off x="3977640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4690872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Routing, params, forms, validation, hooks, light refactor discipline</a:t>
            </a:r>
            <a:endParaRPr lang="en-US" sz="845" dirty="0"/>
          </a:p>
        </p:txBody>
      </p:sp>
      <p:sp>
        <p:nvSpPr>
          <p:cNvPr id="42" name="Text 40"/>
          <p:cNvSpPr/>
          <p:nvPr/>
        </p:nvSpPr>
        <p:spPr>
          <a:xfrm>
            <a:off x="3977640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4690872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API resource modeling, REST constraints, idempotency, pagination, session vs token</a:t>
            </a:r>
            <a:endParaRPr lang="en-US" sz="845" dirty="0"/>
          </a:p>
        </p:txBody>
      </p:sp>
      <p:sp>
        <p:nvSpPr>
          <p:cNvPr id="44" name="Shape 42"/>
          <p:cNvSpPr/>
          <p:nvPr/>
        </p:nvSpPr>
        <p:spPr>
          <a:xfrm>
            <a:off x="3959352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2504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4654296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VPC diagram, CRUD API contract, mini router app, auth decision notes</a:t>
            </a:r>
            <a:endParaRPr lang="en-US" sz="845" dirty="0"/>
          </a:p>
        </p:txBody>
      </p:sp>
      <p:sp>
        <p:nvSpPr>
          <p:cNvPr id="47" name="Shape 45"/>
          <p:cNvSpPr/>
          <p:nvPr/>
        </p:nvSpPr>
        <p:spPr>
          <a:xfrm>
            <a:off x="411480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" y="5623560"/>
            <a:ext cx="3337560" cy="14630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7784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3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1746504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15-21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6072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Storage strategy, database foundations, and caching decisions</a:t>
            </a:r>
            <a:endParaRPr lang="en-US" sz="1180" dirty="0"/>
          </a:p>
        </p:txBody>
      </p:sp>
      <p:sp>
        <p:nvSpPr>
          <p:cNvPr id="53" name="Text 51"/>
          <p:cNvSpPr/>
          <p:nvPr/>
        </p:nvSpPr>
        <p:spPr>
          <a:xfrm>
            <a:off x="576072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1289304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Two pointers, palindrome and 3Sum patterns, fast/slow pointers, string grouping</a:t>
            </a:r>
            <a:endParaRPr lang="en-US" sz="845" dirty="0"/>
          </a:p>
        </p:txBody>
      </p:sp>
      <p:sp>
        <p:nvSpPr>
          <p:cNvPr id="55" name="Text 53"/>
          <p:cNvSpPr/>
          <p:nvPr/>
        </p:nvSpPr>
        <p:spPr>
          <a:xfrm>
            <a:off x="576072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1289304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Threads, locks, volatile, race conditions, ExecutorService, CompletableFuture</a:t>
            </a:r>
            <a:endParaRPr lang="en-US" sz="845" dirty="0"/>
          </a:p>
        </p:txBody>
      </p:sp>
      <p:sp>
        <p:nvSpPr>
          <p:cNvPr id="57" name="Text 55"/>
          <p:cNvSpPr/>
          <p:nvPr/>
        </p:nvSpPr>
        <p:spPr>
          <a:xfrm>
            <a:off x="576072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1289304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S3 lifecycle, EBS, EFS, RDS engines, backups, read replicas, Multi-AZ</a:t>
            </a:r>
            <a:endParaRPr lang="en-US" sz="845" dirty="0"/>
          </a:p>
        </p:txBody>
      </p:sp>
      <p:sp>
        <p:nvSpPr>
          <p:cNvPr id="59" name="Text 57"/>
          <p:cNvSpPr/>
          <p:nvPr/>
        </p:nvSpPr>
        <p:spPr>
          <a:xfrm>
            <a:off x="576072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1289304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Context, useReducer, Redux and Redux Toolkit fundamentals</a:t>
            </a:r>
            <a:endParaRPr lang="en-US" sz="845" dirty="0"/>
          </a:p>
        </p:txBody>
      </p:sp>
      <p:sp>
        <p:nvSpPr>
          <p:cNvPr id="61" name="Text 59"/>
          <p:cNvSpPr/>
          <p:nvPr/>
        </p:nvSpPr>
        <p:spPr>
          <a:xfrm>
            <a:off x="576072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1289304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Cache-aside vs write-through, SQL vs NoSQL, ER modeling, normalization, indexing</a:t>
            </a:r>
            <a:endParaRPr lang="en-US" sz="845" dirty="0"/>
          </a:p>
        </p:txBody>
      </p:sp>
      <p:sp>
        <p:nvSpPr>
          <p:cNvPr id="63" name="Shape 61"/>
          <p:cNvSpPr/>
          <p:nvPr/>
        </p:nvSpPr>
        <p:spPr>
          <a:xfrm>
            <a:off x="557784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1252728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RDS-connected demo, state-managed UI, database trade-off note</a:t>
            </a:r>
            <a:endParaRPr lang="en-US" sz="845" dirty="0"/>
          </a:p>
        </p:txBody>
      </p:sp>
      <p:sp>
        <p:nvSpPr>
          <p:cNvPr id="66" name="Shape 64"/>
          <p:cNvSpPr/>
          <p:nvPr/>
        </p:nvSpPr>
        <p:spPr>
          <a:xfrm>
            <a:off x="3813048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813048" y="5623560"/>
            <a:ext cx="3337560" cy="14630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59352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14216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4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5148072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22-28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977640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Scale basics, database choice, and the first architecture milestone</a:t>
            </a:r>
            <a:endParaRPr lang="en-US" sz="1180" dirty="0"/>
          </a:p>
        </p:txBody>
      </p:sp>
      <p:sp>
        <p:nvSpPr>
          <p:cNvPr id="72" name="Text 70"/>
          <p:cNvSpPr/>
          <p:nvPr/>
        </p:nvSpPr>
        <p:spPr>
          <a:xfrm>
            <a:off x="3977640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4690872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Binary search, intervals, sorting fundamentals, merge intervals</a:t>
            </a:r>
            <a:endParaRPr lang="en-US" sz="845" dirty="0"/>
          </a:p>
        </p:txBody>
      </p:sp>
      <p:sp>
        <p:nvSpPr>
          <p:cNvPr id="74" name="Text 72"/>
          <p:cNvSpPr/>
          <p:nvPr/>
        </p:nvSpPr>
        <p:spPr>
          <a:xfrm>
            <a:off x="3977640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4690872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Parallel streams, virtual threads overview, comparator usage, unit testing basics</a:t>
            </a:r>
            <a:endParaRPr lang="en-US" sz="845" dirty="0"/>
          </a:p>
        </p:txBody>
      </p:sp>
      <p:sp>
        <p:nvSpPr>
          <p:cNvPr id="76" name="Text 74"/>
          <p:cNvSpPr/>
          <p:nvPr/>
        </p:nvSpPr>
        <p:spPr>
          <a:xfrm>
            <a:off x="3977640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77" name="Text 75"/>
          <p:cNvSpPr/>
          <p:nvPr/>
        </p:nvSpPr>
        <p:spPr>
          <a:xfrm>
            <a:off x="4690872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DynamoDB, partition/sort keys, GSI/LSI, capacity modes, backup and restore</a:t>
            </a:r>
            <a:endParaRPr lang="en-US" sz="845" dirty="0"/>
          </a:p>
        </p:txBody>
      </p:sp>
      <p:sp>
        <p:nvSpPr>
          <p:cNvPr id="78" name="Text 76"/>
          <p:cNvSpPr/>
          <p:nvPr/>
        </p:nvSpPr>
        <p:spPr>
          <a:xfrm>
            <a:off x="3977640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79" name="Text 77"/>
          <p:cNvSpPr/>
          <p:nvPr/>
        </p:nvSpPr>
        <p:spPr>
          <a:xfrm>
            <a:off x="4690872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API clients, loading and error states, pagination, environment config basics</a:t>
            </a:r>
            <a:endParaRPr lang="en-US" sz="845" dirty="0"/>
          </a:p>
        </p:txBody>
      </p:sp>
      <p:sp>
        <p:nvSpPr>
          <p:cNvPr id="80" name="Text 78"/>
          <p:cNvSpPr/>
          <p:nvPr/>
        </p:nvSpPr>
        <p:spPr>
          <a:xfrm>
            <a:off x="3977640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4690872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Load balancing, horizontal scaling, statelessness, sharding, consistency trade-offs</a:t>
            </a:r>
            <a:endParaRPr lang="en-US" sz="845" dirty="0"/>
          </a:p>
        </p:txBody>
      </p:sp>
      <p:sp>
        <p:nvSpPr>
          <p:cNvPr id="82" name="Shape 80"/>
          <p:cNvSpPr/>
          <p:nvPr/>
        </p:nvSpPr>
        <p:spPr>
          <a:xfrm>
            <a:off x="3959352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32504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F7C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4654296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Small e-commerce architecture, DB decision matrix, Day-30 summary</a:t>
            </a:r>
            <a:endParaRPr lang="en-US" sz="8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5-8 · Application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program shifts from foundations into service design, deployment, eventing, and observability.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70432"/>
            <a:ext cx="3337560" cy="1463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5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746504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29-35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Spring Boot service design and the move from modules to services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76072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289304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Linked lists, stacks, queues, parentheses, sliding-window max</a:t>
            </a:r>
            <a:endParaRPr lang="en-US" sz="845" dirty="0"/>
          </a:p>
        </p:txBody>
      </p:sp>
      <p:sp>
        <p:nvSpPr>
          <p:cNvPr id="17" name="Text 15"/>
          <p:cNvSpPr/>
          <p:nvPr/>
        </p:nvSpPr>
        <p:spPr>
          <a:xfrm>
            <a:off x="576072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1289304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Spring Boot structure, IoC/DI, MVC, validation, profiles, externalized config</a:t>
            </a:r>
            <a:endParaRPr lang="en-US" sz="845" dirty="0"/>
          </a:p>
        </p:txBody>
      </p:sp>
      <p:sp>
        <p:nvSpPr>
          <p:cNvPr id="19" name="Text 17"/>
          <p:cNvSpPr/>
          <p:nvPr/>
        </p:nvSpPr>
        <p:spPr>
          <a:xfrm>
            <a:off x="576072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289304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Lambda, API Gateway, event handlers, Step Functions introduction</a:t>
            </a:r>
            <a:endParaRPr lang="en-US" sz="845" dirty="0"/>
          </a:p>
        </p:txBody>
      </p:sp>
      <p:sp>
        <p:nvSpPr>
          <p:cNvPr id="21" name="Text 19"/>
          <p:cNvSpPr/>
          <p:nvPr/>
        </p:nvSpPr>
        <p:spPr>
          <a:xfrm>
            <a:off x="576072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1289304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 strategy, RTK Query, optimistic updates, state-heavy feature work</a:t>
            </a:r>
            <a:endParaRPr lang="en-US" sz="845" dirty="0"/>
          </a:p>
        </p:txBody>
      </p:sp>
      <p:sp>
        <p:nvSpPr>
          <p:cNvPr id="23" name="Text 21"/>
          <p:cNvSpPr/>
          <p:nvPr/>
        </p:nvSpPr>
        <p:spPr>
          <a:xfrm>
            <a:off x="576072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289304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Microservice decomposition, sync vs async calls, OpenAPI, contract thinking, saga intro</a:t>
            </a:r>
            <a:endParaRPr lang="en-US" sz="845" dirty="0"/>
          </a:p>
        </p:txBody>
      </p:sp>
      <p:sp>
        <p:nvSpPr>
          <p:cNvPr id="25" name="Shape 23"/>
          <p:cNvSpPr/>
          <p:nvPr/>
        </p:nvSpPr>
        <p:spPr>
          <a:xfrm>
            <a:off x="557784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252728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Spring CRUD API, OpenAPI draft, serverless comparison, monolith vs microservice note</a:t>
            </a:r>
            <a:endParaRPr lang="en-US" sz="845" dirty="0"/>
          </a:p>
        </p:txBody>
      </p:sp>
      <p:sp>
        <p:nvSpPr>
          <p:cNvPr id="28" name="Shape 26"/>
          <p:cNvSpPr/>
          <p:nvPr/>
        </p:nvSpPr>
        <p:spPr>
          <a:xfrm>
            <a:off x="3813048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3048" y="1170432"/>
            <a:ext cx="3337560" cy="1463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9352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14216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6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148072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36-42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Persistence, containers, cloud deployment, and auth foundations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3977640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690872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Heaps, top-K problems, DFS/BFS tree patterns</a:t>
            </a:r>
            <a:endParaRPr lang="en-US" sz="845" dirty="0"/>
          </a:p>
        </p:txBody>
      </p:sp>
      <p:sp>
        <p:nvSpPr>
          <p:cNvPr id="36" name="Text 34"/>
          <p:cNvSpPr/>
          <p:nvPr/>
        </p:nvSpPr>
        <p:spPr>
          <a:xfrm>
            <a:off x="3977640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4690872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JPA entities, relationships, transactions, pagination, MockMvc API testing</a:t>
            </a:r>
            <a:endParaRPr lang="en-US" sz="845" dirty="0"/>
          </a:p>
        </p:txBody>
      </p:sp>
      <p:sp>
        <p:nvSpPr>
          <p:cNvPr id="38" name="Text 36"/>
          <p:cNvSpPr/>
          <p:nvPr/>
        </p:nvSpPr>
        <p:spPr>
          <a:xfrm>
            <a:off x="397764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4690872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Docker, ECR, ECS/Fargate, service deploy review, cloud deployment checklist</a:t>
            </a:r>
            <a:endParaRPr lang="en-US" sz="845" dirty="0"/>
          </a:p>
        </p:txBody>
      </p:sp>
      <p:sp>
        <p:nvSpPr>
          <p:cNvPr id="40" name="Text 38"/>
          <p:cNvSpPr/>
          <p:nvPr/>
        </p:nvSpPr>
        <p:spPr>
          <a:xfrm>
            <a:off x="3977640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4690872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Render-cycle debugging, memoization, lazy loading, code splitting, list virtualization</a:t>
            </a:r>
            <a:endParaRPr lang="en-US" sz="845" dirty="0"/>
          </a:p>
        </p:txBody>
      </p:sp>
      <p:sp>
        <p:nvSpPr>
          <p:cNvPr id="42" name="Text 40"/>
          <p:cNvSpPr/>
          <p:nvPr/>
        </p:nvSpPr>
        <p:spPr>
          <a:xfrm>
            <a:off x="3977640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4690872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Authentication vs authorization, JWT, OAuth2/OIDC, session vs token, secure config</a:t>
            </a:r>
            <a:endParaRPr lang="en-US" sz="845" dirty="0"/>
          </a:p>
        </p:txBody>
      </p:sp>
      <p:sp>
        <p:nvSpPr>
          <p:cNvPr id="44" name="Shape 42"/>
          <p:cNvSpPr/>
          <p:nvPr/>
        </p:nvSpPr>
        <p:spPr>
          <a:xfrm>
            <a:off x="3959352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2504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4654296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Containerized Spring application deployed to AWS with security baseline</a:t>
            </a:r>
            <a:endParaRPr lang="en-US" sz="845" dirty="0"/>
          </a:p>
        </p:txBody>
      </p:sp>
      <p:sp>
        <p:nvSpPr>
          <p:cNvPr id="47" name="Shape 45"/>
          <p:cNvSpPr/>
          <p:nvPr/>
        </p:nvSpPr>
        <p:spPr>
          <a:xfrm>
            <a:off x="411480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" y="5623560"/>
            <a:ext cx="3337560" cy="1463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7784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7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1746504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43-49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6072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Messaging, event-driven architecture, and operational correctness</a:t>
            </a:r>
            <a:endParaRPr lang="en-US" sz="1180" dirty="0"/>
          </a:p>
        </p:txBody>
      </p:sp>
      <p:sp>
        <p:nvSpPr>
          <p:cNvPr id="53" name="Text 51"/>
          <p:cNvSpPr/>
          <p:nvPr/>
        </p:nvSpPr>
        <p:spPr>
          <a:xfrm>
            <a:off x="576072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1289304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Tree diameter, balancing, LCA, serialization and tree reasoning</a:t>
            </a:r>
            <a:endParaRPr lang="en-US" sz="845" dirty="0"/>
          </a:p>
        </p:txBody>
      </p:sp>
      <p:sp>
        <p:nvSpPr>
          <p:cNvPr id="55" name="Text 53"/>
          <p:cNvSpPr/>
          <p:nvPr/>
        </p:nvSpPr>
        <p:spPr>
          <a:xfrm>
            <a:off x="576072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1289304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Connection pools, indexing/query tuning, Redis in Spring, structured logging, Testcontainers</a:t>
            </a:r>
            <a:endParaRPr lang="en-US" sz="845" dirty="0"/>
          </a:p>
        </p:txBody>
      </p:sp>
      <p:sp>
        <p:nvSpPr>
          <p:cNvPr id="57" name="Text 55"/>
          <p:cNvSpPr/>
          <p:nvPr/>
        </p:nvSpPr>
        <p:spPr>
          <a:xfrm>
            <a:off x="576072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1289304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SQS, SNS, EventBridge, comparison matrix, DLQ and retry handling labs</a:t>
            </a:r>
            <a:endParaRPr lang="en-US" sz="845" dirty="0"/>
          </a:p>
        </p:txBody>
      </p:sp>
      <p:sp>
        <p:nvSpPr>
          <p:cNvPr id="59" name="Text 57"/>
          <p:cNvSpPr/>
          <p:nvPr/>
        </p:nvSpPr>
        <p:spPr>
          <a:xfrm>
            <a:off x="576072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1289304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Scalable folder structure, reusable component patterns, component library starter</a:t>
            </a:r>
            <a:endParaRPr lang="en-US" sz="845" dirty="0"/>
          </a:p>
        </p:txBody>
      </p:sp>
      <p:sp>
        <p:nvSpPr>
          <p:cNvPr id="61" name="Text 59"/>
          <p:cNvSpPr/>
          <p:nvPr/>
        </p:nvSpPr>
        <p:spPr>
          <a:xfrm>
            <a:off x="576072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1289304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Event-driven vs request-response, eventual consistency, outbox, idempotency, schema evolution</a:t>
            </a:r>
            <a:endParaRPr lang="en-US" sz="845" dirty="0"/>
          </a:p>
        </p:txBody>
      </p:sp>
      <p:sp>
        <p:nvSpPr>
          <p:cNvPr id="63" name="Shape 61"/>
          <p:cNvSpPr/>
          <p:nvPr/>
        </p:nvSpPr>
        <p:spPr>
          <a:xfrm>
            <a:off x="557784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1252728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Cache-plus-queue service, event pipeline, async processing path, updated diagrams</a:t>
            </a:r>
            <a:endParaRPr lang="en-US" sz="845" dirty="0"/>
          </a:p>
        </p:txBody>
      </p:sp>
      <p:sp>
        <p:nvSpPr>
          <p:cNvPr id="66" name="Shape 64"/>
          <p:cNvSpPr/>
          <p:nvPr/>
        </p:nvSpPr>
        <p:spPr>
          <a:xfrm>
            <a:off x="3813048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813048" y="5623560"/>
            <a:ext cx="3337560" cy="1463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59352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14216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8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5148072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50-56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977640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Observability, resilience, and measuring the health of a service</a:t>
            </a:r>
            <a:endParaRPr lang="en-US" sz="1180" dirty="0"/>
          </a:p>
        </p:txBody>
      </p:sp>
      <p:sp>
        <p:nvSpPr>
          <p:cNvPr id="72" name="Text 70"/>
          <p:cNvSpPr/>
          <p:nvPr/>
        </p:nvSpPr>
        <p:spPr>
          <a:xfrm>
            <a:off x="3977640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4690872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Graphs, BFS/DFS, connected components, topo sort, clone graph</a:t>
            </a:r>
            <a:endParaRPr lang="en-US" sz="845" dirty="0"/>
          </a:p>
        </p:txBody>
      </p:sp>
      <p:sp>
        <p:nvSpPr>
          <p:cNvPr id="74" name="Text 72"/>
          <p:cNvSpPr/>
          <p:nvPr/>
        </p:nvSpPr>
        <p:spPr>
          <a:xfrm>
            <a:off x="3977640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4690872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Feign, central config, service discovery patterns, Resilience4j circuit breaker and retry</a:t>
            </a:r>
            <a:endParaRPr lang="en-US" sz="845" dirty="0"/>
          </a:p>
        </p:txBody>
      </p:sp>
      <p:sp>
        <p:nvSpPr>
          <p:cNvPr id="76" name="Text 74"/>
          <p:cNvSpPr/>
          <p:nvPr/>
        </p:nvSpPr>
        <p:spPr>
          <a:xfrm>
            <a:off x="3977640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77" name="Text 75"/>
          <p:cNvSpPr/>
          <p:nvPr/>
        </p:nvSpPr>
        <p:spPr>
          <a:xfrm>
            <a:off x="4690872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CloudWatch logs/metrics, alarms, dashboards, X-Ray tracing, autoscaling signals</a:t>
            </a:r>
            <a:endParaRPr lang="en-US" sz="845" dirty="0"/>
          </a:p>
        </p:txBody>
      </p:sp>
      <p:sp>
        <p:nvSpPr>
          <p:cNvPr id="78" name="Text 76"/>
          <p:cNvSpPr/>
          <p:nvPr/>
        </p:nvSpPr>
        <p:spPr>
          <a:xfrm>
            <a:off x="3977640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79" name="Text 77"/>
          <p:cNvSpPr/>
          <p:nvPr/>
        </p:nvSpPr>
        <p:spPr>
          <a:xfrm>
            <a:off x="4690872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Jest, React Testing Library, API mocks, E2E basics for one full flow</a:t>
            </a:r>
            <a:endParaRPr lang="en-US" sz="845" dirty="0"/>
          </a:p>
        </p:txBody>
      </p:sp>
      <p:sp>
        <p:nvSpPr>
          <p:cNvPr id="80" name="Text 78"/>
          <p:cNvSpPr/>
          <p:nvPr/>
        </p:nvSpPr>
        <p:spPr>
          <a:xfrm>
            <a:off x="3977640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4690872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SLIs, SLOs, SLAs, timeouts, retries, circuit breakers, bulkheads, chaos thinking</a:t>
            </a:r>
            <a:endParaRPr lang="en-US" sz="845" dirty="0"/>
          </a:p>
        </p:txBody>
      </p:sp>
      <p:sp>
        <p:nvSpPr>
          <p:cNvPr id="82" name="Shape 80"/>
          <p:cNvSpPr/>
          <p:nvPr/>
        </p:nvSpPr>
        <p:spPr>
          <a:xfrm>
            <a:off x="3959352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EAFBF9"/>
          </a:solidFill>
          <a:ln w="12700">
            <a:solidFill>
              <a:srgbClr val="EAFBF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32504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4654296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Observable service, dashboards, runbook, reliability review</a:t>
            </a:r>
            <a:endParaRPr lang="en-US" sz="84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9-12 · Scale, Security, and Platform Thinking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Here the roadmap becomes architect-heavy: async systems, resilience, security, release engineering, and IaC.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70432"/>
            <a:ext cx="3337560" cy="14630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9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746504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57-63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Asynchronous design, Redis strategy, and measurable performance gains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76072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289304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Dynamic programming basics: Fibonacci, Climbing Stairs, House Robber, coin variants</a:t>
            </a:r>
            <a:endParaRPr lang="en-US" sz="845" dirty="0"/>
          </a:p>
        </p:txBody>
      </p:sp>
      <p:sp>
        <p:nvSpPr>
          <p:cNvPr id="17" name="Text 15"/>
          <p:cNvSpPr/>
          <p:nvPr/>
        </p:nvSpPr>
        <p:spPr>
          <a:xfrm>
            <a:off x="576072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1289304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Async APIs, virtual threads vs pools, producer-consumer, cancellation and async error handling</a:t>
            </a:r>
            <a:endParaRPr lang="en-US" sz="845" dirty="0"/>
          </a:p>
        </p:txBody>
      </p:sp>
      <p:sp>
        <p:nvSpPr>
          <p:cNvPr id="19" name="Text 17"/>
          <p:cNvSpPr/>
          <p:nvPr/>
        </p:nvSpPr>
        <p:spPr>
          <a:xfrm>
            <a:off x="576072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289304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Redis/ElastiCache, session patterns, TTL, eviction, hot keys, cache benchmarking</a:t>
            </a:r>
            <a:endParaRPr lang="en-US" sz="845" dirty="0"/>
          </a:p>
        </p:txBody>
      </p:sp>
      <p:sp>
        <p:nvSpPr>
          <p:cNvPr id="21" name="Text 19"/>
          <p:cNvSpPr/>
          <p:nvPr/>
        </p:nvSpPr>
        <p:spPr>
          <a:xfrm>
            <a:off x="576072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1289304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TypeScript basics, typed props/state, typed API responses, config cleanup</a:t>
            </a:r>
            <a:endParaRPr lang="en-US" sz="845" dirty="0"/>
          </a:p>
        </p:txBody>
      </p:sp>
      <p:sp>
        <p:nvSpPr>
          <p:cNvPr id="23" name="Text 21"/>
          <p:cNvSpPr/>
          <p:nvPr/>
        </p:nvSpPr>
        <p:spPr>
          <a:xfrm>
            <a:off x="576072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289304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Cache selection, invalidation, request coalescing, cache boundaries, CDN vs API cache</a:t>
            </a:r>
            <a:endParaRPr lang="en-US" sz="845" dirty="0"/>
          </a:p>
        </p:txBody>
      </p:sp>
      <p:sp>
        <p:nvSpPr>
          <p:cNvPr id="25" name="Shape 23"/>
          <p:cNvSpPr/>
          <p:nvPr/>
        </p:nvSpPr>
        <p:spPr>
          <a:xfrm>
            <a:off x="557784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252728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Cache-backed async feature, latency before/after report, cache decision note</a:t>
            </a:r>
            <a:endParaRPr lang="en-US" sz="845" dirty="0"/>
          </a:p>
        </p:txBody>
      </p:sp>
      <p:sp>
        <p:nvSpPr>
          <p:cNvPr id="28" name="Shape 26"/>
          <p:cNvSpPr/>
          <p:nvPr/>
        </p:nvSpPr>
        <p:spPr>
          <a:xfrm>
            <a:off x="3813048" y="1170432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3048" y="1170432"/>
            <a:ext cx="3337560" cy="14630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9352" y="13533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14216" y="144475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10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148072" y="1417320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64-70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737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Distributed reliability, orchestration choices, and consistency trade-offs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3977640" y="2295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690872" y="22860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Advanced DP and greedy crossover problems for interview maintenance</a:t>
            </a:r>
            <a:endParaRPr lang="en-US" sz="845" dirty="0"/>
          </a:p>
        </p:txBody>
      </p:sp>
      <p:sp>
        <p:nvSpPr>
          <p:cNvPr id="36" name="Text 34"/>
          <p:cNvSpPr/>
          <p:nvPr/>
        </p:nvSpPr>
        <p:spPr>
          <a:xfrm>
            <a:off x="3977640" y="277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4690872" y="276148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Circuit breaker tuning, retries, timeouts, fallbacks, rate limiting, load testing, graceful degradation</a:t>
            </a:r>
            <a:endParaRPr lang="en-US" sz="845" dirty="0"/>
          </a:p>
        </p:txBody>
      </p:sp>
      <p:sp>
        <p:nvSpPr>
          <p:cNvPr id="38" name="Text 36"/>
          <p:cNvSpPr/>
          <p:nvPr/>
        </p:nvSpPr>
        <p:spPr>
          <a:xfrm>
            <a:off x="397764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4690872" y="32369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EKS concepts, pods/services/ingress, config and secrets, ECS vs EKS decision work</a:t>
            </a:r>
            <a:endParaRPr lang="en-US" sz="845" dirty="0"/>
          </a:p>
        </p:txBody>
      </p:sp>
      <p:sp>
        <p:nvSpPr>
          <p:cNvPr id="40" name="Text 38"/>
          <p:cNvSpPr/>
          <p:nvPr/>
        </p:nvSpPr>
        <p:spPr>
          <a:xfrm>
            <a:off x="3977640" y="3721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4690872" y="371246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Component composition and reusable hook patterns to support larger applications</a:t>
            </a:r>
            <a:endParaRPr lang="en-US" sz="845" dirty="0"/>
          </a:p>
        </p:txBody>
      </p:sp>
      <p:sp>
        <p:nvSpPr>
          <p:cNvPr id="42" name="Text 40"/>
          <p:cNvSpPr/>
          <p:nvPr/>
        </p:nvSpPr>
        <p:spPr>
          <a:xfrm>
            <a:off x="3977640" y="4197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4690872" y="41879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Distributed transactions, saga choreography vs orchestration, CQRS intro, consistency models</a:t>
            </a:r>
            <a:endParaRPr lang="en-US" sz="845" dirty="0"/>
          </a:p>
        </p:txBody>
      </p:sp>
      <p:sp>
        <p:nvSpPr>
          <p:cNvPr id="44" name="Shape 42"/>
          <p:cNvSpPr/>
          <p:nvPr/>
        </p:nvSpPr>
        <p:spPr>
          <a:xfrm>
            <a:off x="3959352" y="4892040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2504" y="49560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4654296" y="49560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Resilience lab, rate-limiter notes, ECS-vs-EKS memo, resilient-service milestone</a:t>
            </a:r>
            <a:endParaRPr lang="en-US" sz="845" dirty="0"/>
          </a:p>
        </p:txBody>
      </p:sp>
      <p:sp>
        <p:nvSpPr>
          <p:cNvPr id="47" name="Shape 45"/>
          <p:cNvSpPr/>
          <p:nvPr/>
        </p:nvSpPr>
        <p:spPr>
          <a:xfrm>
            <a:off x="411480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" y="5623560"/>
            <a:ext cx="3337560" cy="14630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7784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11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1746504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71-77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6072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Security architecture and clean system boundaries</a:t>
            </a:r>
            <a:endParaRPr lang="en-US" sz="1180" dirty="0"/>
          </a:p>
        </p:txBody>
      </p:sp>
      <p:sp>
        <p:nvSpPr>
          <p:cNvPr id="53" name="Text 51"/>
          <p:cNvSpPr/>
          <p:nvPr/>
        </p:nvSpPr>
        <p:spPr>
          <a:xfrm>
            <a:off x="576072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1289304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Jump Game, meeting rooms, intervals and priority-queue greedy review</a:t>
            </a:r>
            <a:endParaRPr lang="en-US" sz="845" dirty="0"/>
          </a:p>
        </p:txBody>
      </p:sp>
      <p:sp>
        <p:nvSpPr>
          <p:cNvPr id="55" name="Text 53"/>
          <p:cNvSpPr/>
          <p:nvPr/>
        </p:nvSpPr>
        <p:spPr>
          <a:xfrm>
            <a:off x="576072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1289304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Factory/strategy patterns, immutability, clean architecture, hexagonal architecture, module boundaries</a:t>
            </a:r>
            <a:endParaRPr lang="en-US" sz="845" dirty="0"/>
          </a:p>
        </p:txBody>
      </p:sp>
      <p:sp>
        <p:nvSpPr>
          <p:cNvPr id="57" name="Text 55"/>
          <p:cNvSpPr/>
          <p:nvPr/>
        </p:nvSpPr>
        <p:spPr>
          <a:xfrm>
            <a:off x="576072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1289304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KMS, Secrets Manager, Parameter Store, Cognito concepts, WAF, Shield, least-privilege IAM</a:t>
            </a:r>
            <a:endParaRPr lang="en-US" sz="845" dirty="0"/>
          </a:p>
        </p:txBody>
      </p:sp>
      <p:sp>
        <p:nvSpPr>
          <p:cNvPr id="59" name="Text 57"/>
          <p:cNvSpPr/>
          <p:nvPr/>
        </p:nvSpPr>
        <p:spPr>
          <a:xfrm>
            <a:off x="576072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1289304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Route-level code splitting, frontend structure, error boundaries, build optimization basics</a:t>
            </a:r>
            <a:endParaRPr lang="en-US" sz="845" dirty="0"/>
          </a:p>
        </p:txBody>
      </p:sp>
      <p:sp>
        <p:nvSpPr>
          <p:cNvPr id="61" name="Text 59"/>
          <p:cNvSpPr/>
          <p:nvPr/>
        </p:nvSpPr>
        <p:spPr>
          <a:xfrm>
            <a:off x="576072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1289304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Zero trust, OWASP Top 10, API security, mTLS, private APIs, threat modeling</a:t>
            </a:r>
            <a:endParaRPr lang="en-US" sz="845" dirty="0"/>
          </a:p>
        </p:txBody>
      </p:sp>
      <p:sp>
        <p:nvSpPr>
          <p:cNvPr id="63" name="Shape 61"/>
          <p:cNvSpPr/>
          <p:nvPr/>
        </p:nvSpPr>
        <p:spPr>
          <a:xfrm>
            <a:off x="557784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1252728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Threat model draft, security checklist, architecture-pattern comparison</a:t>
            </a:r>
            <a:endParaRPr lang="en-US" sz="845" dirty="0"/>
          </a:p>
        </p:txBody>
      </p:sp>
      <p:sp>
        <p:nvSpPr>
          <p:cNvPr id="66" name="Shape 64"/>
          <p:cNvSpPr/>
          <p:nvPr/>
        </p:nvSpPr>
        <p:spPr>
          <a:xfrm>
            <a:off x="3813048" y="5623560"/>
            <a:ext cx="3337560" cy="4315968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813048" y="5623560"/>
            <a:ext cx="3337560" cy="14630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59352" y="58064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14216" y="58978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12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5148072" y="587044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78-84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977640" y="619048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 engineering, infrastructure as code, and DevSecOps discipline</a:t>
            </a:r>
            <a:endParaRPr lang="en-US" sz="1180" dirty="0"/>
          </a:p>
        </p:txBody>
      </p:sp>
      <p:sp>
        <p:nvSpPr>
          <p:cNvPr id="72" name="Text 70"/>
          <p:cNvSpPr/>
          <p:nvPr/>
        </p:nvSpPr>
        <p:spPr>
          <a:xfrm>
            <a:off x="3977640" y="6748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4690872" y="673912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Subsets, permutations, combination sum, backtracking, bit-manipulation refresh</a:t>
            </a:r>
            <a:endParaRPr lang="en-US" sz="845" dirty="0"/>
          </a:p>
        </p:txBody>
      </p:sp>
      <p:sp>
        <p:nvSpPr>
          <p:cNvPr id="74" name="Text 72"/>
          <p:cNvSpPr/>
          <p:nvPr/>
        </p:nvSpPr>
        <p:spPr>
          <a:xfrm>
            <a:off x="3977640" y="72237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4690872" y="721461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Maven lifecycle, plugins, coverage, Sonar/Jacoco, versioning and release management</a:t>
            </a:r>
            <a:endParaRPr lang="en-US" sz="845" dirty="0"/>
          </a:p>
        </p:txBody>
      </p:sp>
      <p:sp>
        <p:nvSpPr>
          <p:cNvPr id="76" name="Text 74"/>
          <p:cNvSpPr/>
          <p:nvPr/>
        </p:nvSpPr>
        <p:spPr>
          <a:xfrm>
            <a:off x="3977640" y="7699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60" dirty="0"/>
          </a:p>
        </p:txBody>
      </p:sp>
      <p:sp>
        <p:nvSpPr>
          <p:cNvPr id="77" name="Text 75"/>
          <p:cNvSpPr/>
          <p:nvPr/>
        </p:nvSpPr>
        <p:spPr>
          <a:xfrm>
            <a:off x="4690872" y="76901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CodeBuild/CodePipeline or GitHub Actions, CloudFormation, Terraform, IaC drift and state</a:t>
            </a:r>
            <a:endParaRPr lang="en-US" sz="845" dirty="0"/>
          </a:p>
        </p:txBody>
      </p:sp>
      <p:sp>
        <p:nvSpPr>
          <p:cNvPr id="78" name="Text 76"/>
          <p:cNvSpPr/>
          <p:nvPr/>
        </p:nvSpPr>
        <p:spPr>
          <a:xfrm>
            <a:off x="3977640" y="8174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79" name="Text 77"/>
          <p:cNvSpPr/>
          <p:nvPr/>
        </p:nvSpPr>
        <p:spPr>
          <a:xfrm>
            <a:off x="4690872" y="816559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pipeline, bundle analysis, environment handling, source-map and monitoring basics</a:t>
            </a:r>
            <a:endParaRPr lang="en-US" sz="845" dirty="0"/>
          </a:p>
        </p:txBody>
      </p:sp>
      <p:sp>
        <p:nvSpPr>
          <p:cNvPr id="80" name="Text 78"/>
          <p:cNvSpPr/>
          <p:nvPr/>
        </p:nvSpPr>
        <p:spPr>
          <a:xfrm>
            <a:off x="3977640" y="8650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4690872" y="864108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5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CI/CD principles, branch strategy, artifact promotion, release flow, DevSecOps checklist</a:t>
            </a:r>
            <a:endParaRPr lang="en-US" sz="845" dirty="0"/>
          </a:p>
        </p:txBody>
      </p:sp>
      <p:sp>
        <p:nvSpPr>
          <p:cNvPr id="82" name="Shape 80"/>
          <p:cNvSpPr/>
          <p:nvPr/>
        </p:nvSpPr>
        <p:spPr>
          <a:xfrm>
            <a:off x="3959352" y="9345168"/>
            <a:ext cx="3044952" cy="420624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32504" y="9409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B5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4654296" y="940917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Automated build pipeline, infra template, rollback and release notes</a:t>
            </a:r>
            <a:endParaRPr lang="en-US" sz="84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13-15 · Performance, design rounds, and specialization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curriculum now asks you to defend architecture choices in public: cost, DR, ADRs, and presentation become visible outputs.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6656832" cy="658368"/>
          </a:xfrm>
          <a:prstGeom prst="roundRect">
            <a:avLst>
              <a:gd name="adj" fmla="val 13889"/>
            </a:avLst>
          </a:prstGeom>
          <a:solidFill>
            <a:srgbClr val="FFF1EC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70432"/>
            <a:ext cx="6656832" cy="128016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8988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828800"/>
            <a:ext cx="6327648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 are no longer just building features. You are tuning systems, writing decisions, and presenting trade-offs clearly enough for stakeholders and interviewers to trust your judgment.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665683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93392"/>
            <a:ext cx="6656832" cy="14630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17627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6771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13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792224" y="2240280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85-91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2560320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Performance, cost awareness, global delivery, and recovery planning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0815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280160" y="307238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Mixed medium timed sets and correction-focused review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21792" y="33924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280160" y="33832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JFR/JMC, GC tuning flags, heap and thread dumps, pool tuning, DB/query profiling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21792" y="3703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280160" y="3694176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 53, DNS, CloudFront, ACM, PrivateLink, cost explorer, optimization levers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986784" y="308152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846320" y="30723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Accessibility review, performance budgets, semantic HTML, keyboard navigation essentials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986784" y="339242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Cost vs performance, RTO/RPO, Multi-AZ vs Multi-region, final Well-Architected check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986784" y="37033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846320" y="36941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Tuned and audited system slice with HA and cost notes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57200" y="4736592"/>
            <a:ext cx="665683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736592"/>
            <a:ext cx="6656832" cy="14630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" y="491947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01091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14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792224" y="4983480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92-98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" y="5303520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design sprint: rate limiting, notifications, uploads, and payments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58247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280160" y="581558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Design-focused mix and timed mocks to keep coding fluency alive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21792" y="61356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280160" y="61264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Rate limiter, notification system, URL shortener, file upload, and payment design slices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621792" y="64465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1280160" y="6437376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 patterns, backups, DR, autoscaling, failover, queue buffering and decoupling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986784" y="582472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846320" y="58155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Error logging, user analytics, feature flags, distributed tracing visibility from UI to API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3986784" y="613562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846320" y="61264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 trade-offs, blue-green vs canary, ADR writing, stakeholder communication and design talk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3986784" y="64465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846320" y="64373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 diagrams, DR notes, ADR set, and first design presentation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57200" y="7479792"/>
            <a:ext cx="6656832" cy="2340864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7479792"/>
            <a:ext cx="6656832" cy="14630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" y="766267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775411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15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1792224" y="7726680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99-105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" y="8046720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AI/RAG extension for solution patterns that need modern assistant features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" y="85679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280160" y="855878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Weak-area maintenance sets only; focus shifts toward specialization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21792" y="88788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280160" y="88696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 API integration, embeddings, chunking, retrieval flow, guardrails, evaluation strategy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21792" y="9189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1280160" y="9180576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S3 knowledge base, ingestion pipeline, async processing, rate limits, latency/cost controls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3986784" y="856792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4846320" y="8558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Chat UI skeleton, streaming response handling, conversation state and citation display patterns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3986784" y="887882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4846320" y="88696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Prompting trade-offs, hallucination controls, AI security/privacy, memory and grounding strategy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3986784" y="91897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F7A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4846320" y="91805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GenAI slice, evaluation rubric, and AI design notes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5468112" y="7644384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22976" y="769924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SPECIALIZATION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16-18 · Capstone execution and final packaging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last stretch turns the roadmap into proof: a deployable solution, supporting documents, and a presentation-ready narrative.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6656832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656832" cy="146304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3716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6304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16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792224" y="1435608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106-112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1755648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Capstone launch: scope, architecture baseline, and staging readiness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27685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280160" y="226771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Mocks and weak-area correction only; architecture execution takes priority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21792" y="2587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280160" y="257860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Capstone scope, domain model, auth service, core business service, async/event service, test plan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21792" y="28986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280160" y="288950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Reference architecture selection, IAM/networking, storage, database, queue/cache, monitoring baseline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986784" y="227685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846320" y="22677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 shell, route map, auth flow, API client, feature pages, UX baseline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986784" y="258775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846320" y="25786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NFRs, acceptance criteria, ADRs, deployment checklist, backlog shaping, architecture version 1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986784" y="289864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846320" y="288950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Capstone backlog, working auth skeleton, core API, staging-ready baseline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6656832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57600"/>
            <a:ext cx="6656832" cy="146304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384048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93192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17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792224" y="3904488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Days 113-119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4224528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Capstone hardening: security, performance, recovery, and presentation readiness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47457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280160" y="47365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mock sequence for confidence, not depth expansion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21792" y="505663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280160" y="504748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Optimize hotspots, security hardening, failure handling, CI/CD hardening, code cleanup, rehearsal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21792" y="53675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280160" y="535838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Autoscaling and cost controls, CloudFront/WAF/Route53, backup and DR review, deployment validation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986784" y="474573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846320" y="473659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 tests, performance fixes, accessibility pass, docs, final UX polish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3986784" y="50566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846320" y="504748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Runbook, incident scenarios, metrics dashboard, stakeholder Q&amp;A, portfolio and resume bullets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986784" y="536752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846320" y="53583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 candidate, polished demo, security review, presentation rehearsal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7200" y="6126480"/>
            <a:ext cx="6656832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6126480"/>
            <a:ext cx="6656832" cy="146304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" y="630936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640080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18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1792224" y="6373368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Day 120 and beyond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" y="6693408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assessment, presentation, and next-step acceleration plan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1792" y="721461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DSA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280160" y="72054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mock and pattern-sheet consolidation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21792" y="75255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280160" y="751636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Java/Spring interview notes, strengths review, and targeted follow-up topics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21792" y="78364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280160" y="782726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AWS review across compute, storage, networking, security, operations, and cost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3986784" y="721461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4846320" y="720547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 architecture recap focused on integration, monitoring, and delivery support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3986784" y="752551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4846320" y="75163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Solution Architect presentation, readiness review, and the next 90-day improvement plan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3986784" y="7836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626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Output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4846320" y="78272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Recorded final assessment and a continuation roadmap for interviews or promotion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457200" y="8266176"/>
            <a:ext cx="6656832" cy="1627632"/>
          </a:xfrm>
          <a:prstGeom prst="roundRect">
            <a:avLst>
              <a:gd name="adj" fmla="val 5618"/>
            </a:avLst>
          </a:prstGeom>
          <a:solidFill>
            <a:srgbClr val="EAFBF9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7200" y="8266176"/>
            <a:ext cx="6656832" cy="128016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848563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Capstone artifact pack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21792" y="8924544"/>
            <a:ext cx="6327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HLD and LLD diagrams · deployment view · sequence diagrams · ADR set · runbook · threat model · SLOs and metrics dashboard · cost and HA notes · polished demo walkthrough · resume and portfolio bullets.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7562088" cy="5486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55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this brochure is worth executing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roadmap is only valuable if it leaves you with visible, defensible proof of architecture readiness.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"/>
            <a:ext cx="438912" cy="402336"/>
          </a:xfrm>
          <a:prstGeom prst="roundRect">
            <a:avLst>
              <a:gd name="adj" fmla="val 18182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11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144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Curriculum brochure · Solution Architect 120-Day Accelerator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6656832" cy="1426464"/>
          </a:xfrm>
          <a:prstGeom prst="roundRect">
            <a:avLst>
              <a:gd name="adj" fmla="val 769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350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the proof, not just the knowledge.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7E0E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This 120-day curriculum is designed to turn study time into architecture artifacts, delivery evidence, and a credible Solution Architect story.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559552" y="14173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14721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READY-TO-TRACK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2057400" cy="2880360"/>
          </a:xfrm>
          <a:prstGeom prst="roundRect">
            <a:avLst>
              <a:gd name="adj" fmla="val 4444"/>
            </a:avLst>
          </a:prstGeom>
          <a:solidFill>
            <a:srgbClr val="ECF3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2057400" cy="12801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1693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Who this is for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355848"/>
            <a:ext cx="17282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Senior software engineers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Backend or platform engineers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Cloud-native developers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Leads moving toward solution ownership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Professionals preparing for application or solution architect interviews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52344" y="2697480"/>
            <a:ext cx="2057400" cy="2880360"/>
          </a:xfrm>
          <a:prstGeom prst="roundRect">
            <a:avLst>
              <a:gd name="adj" fmla="val 4444"/>
            </a:avLst>
          </a:prstGeom>
          <a:solidFill>
            <a:srgbClr val="EAFBF9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52344" y="2697480"/>
            <a:ext cx="2057400" cy="128016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91693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you walk away with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16936" y="3355848"/>
            <a:ext cx="17282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A capstone that is actually demoable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Decision documents, not only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Cloud deployment and reliability evidence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Architecture talk track for interviews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A measurable readiness review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47488" y="2697480"/>
            <a:ext cx="2057400" cy="2880360"/>
          </a:xfrm>
          <a:prstGeom prst="roundRect">
            <a:avLst>
              <a:gd name="adj" fmla="val 4444"/>
            </a:avLst>
          </a:prstGeom>
          <a:solidFill>
            <a:srgbClr val="FFF4DA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47488" y="2697480"/>
            <a:ext cx="2057400" cy="12801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91693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to use it best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355848"/>
            <a:ext cx="17282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Pair it with the tracker workbook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Review every weekend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Write one architecture artifact weekly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Keep DSA as maintenance, not the main event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Turn every milestone into portfolio material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66568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6163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makes the path persuasive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" y="64922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654710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05840" y="6473952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 teaches cloud, software delivery, system design, and stakeholder reasoning together instead of in silos.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13232" y="68397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689457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05840" y="6821424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 ends with architecture artifacts that can be shown, explained, defended, and improved.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13232" y="7187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7242048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005840" y="7168896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 creates a bridge from “I can build this” to “I can choose, justify, secure, scale, and present this.”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13232" y="753465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7589520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05840" y="7516368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 is broad enough to build range and structured enough to keep momentum for 120 days.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57200" y="8458200"/>
            <a:ext cx="6656832" cy="1078992"/>
          </a:xfrm>
          <a:prstGeom prst="roundRect">
            <a:avLst>
              <a:gd name="adj" fmla="val 11864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87325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Execute the full 120 days with discipline and you will not just study architecture — you will finish with a body of work that makes your transition easier to explain, evaluate, and trust.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749808" y="9646920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BEB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Companion asset: tracker workbook for weekly execution, readiness scoring, and milestone review.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Architect 120-Day Accelerator</dc:title>
  <dc:subject>120-Day Solution Architect Curriculum Brochure</dc:subject>
  <dc:creator>OpenAI</dc:creator>
  <cp:lastModifiedBy>OpenAI</cp:lastModifiedBy>
  <cp:revision>1</cp:revision>
  <dcterms:created xsi:type="dcterms:W3CDTF">2026-04-09T02:55:51Z</dcterms:created>
  <dcterms:modified xsi:type="dcterms:W3CDTF">2026-04-09T02:55:51Z</dcterms:modified>
</cp:coreProperties>
</file>